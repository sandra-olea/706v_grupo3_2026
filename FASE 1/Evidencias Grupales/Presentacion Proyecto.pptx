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60" r:id="rId5"/>
    <p:sldId id="269" r:id="rId6"/>
    <p:sldId id="259" r:id="rId7"/>
    <p:sldId id="287" r:id="rId8"/>
    <p:sldId id="261" r:id="rId9"/>
    <p:sldId id="288" r:id="rId10"/>
    <p:sldId id="278" r:id="rId11"/>
    <p:sldId id="279" r:id="rId12"/>
    <p:sldId id="276" r:id="rId13"/>
    <p:sldId id="286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07DBFAD7-FA54-4B52-8BDE-5F33C7C671E8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CF48ACED-401C-46E0-A4FD-DD9DB65236C1}" type="parTrans" cxnId="{AB12485A-279F-45F7-B381-B5B3FD9C2CF7}">
      <dgm:prSet/>
      <dgm:spPr/>
      <dgm:t>
        <a:bodyPr/>
        <a:lstStyle/>
        <a:p>
          <a:endParaRPr lang="es-CL"/>
        </a:p>
      </dgm:t>
    </dgm:pt>
    <dgm:pt modelId="{600A97F9-148F-4C31-8451-09B05C0D4E1A}" type="sibTrans" cxnId="{AB12485A-279F-45F7-B381-B5B3FD9C2CF7}">
      <dgm:prSet/>
      <dgm:spPr/>
      <dgm:t>
        <a:bodyPr/>
        <a:lstStyle/>
        <a:p>
          <a:endParaRPr lang="es-CL"/>
        </a:p>
      </dgm:t>
    </dgm:pt>
    <dgm:pt modelId="{5DFEA15F-486F-4B82-953E-16B7851BCC59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7C87EC0-2F73-4A34-905F-DB4A00CB6E6A}" type="parTrans" cxnId="{DFCF6990-53EB-4286-B1CF-835DC72B887E}">
      <dgm:prSet/>
      <dgm:spPr/>
      <dgm:t>
        <a:bodyPr/>
        <a:lstStyle/>
        <a:p>
          <a:endParaRPr lang="es-CL"/>
        </a:p>
      </dgm:t>
    </dgm:pt>
    <dgm:pt modelId="{3277CD81-A0AF-48F8-BBD8-3CE961969DC7}" type="sibTrans" cxnId="{DFCF6990-53EB-4286-B1CF-835DC72B887E}">
      <dgm:prSet/>
      <dgm:spPr/>
      <dgm:t>
        <a:bodyPr/>
        <a:lstStyle/>
        <a:p>
          <a:endParaRPr lang="es-CL"/>
        </a:p>
      </dgm:t>
    </dgm:pt>
    <dgm:pt modelId="{149D954F-D66D-4D2A-A389-35B63DA501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F48E3EB8-AEFE-420D-A38E-B3C86EDE3BC2}" type="parTrans" cxnId="{B7E92E1F-081E-435E-9A84-45C88F35B25B}">
      <dgm:prSet/>
      <dgm:spPr/>
      <dgm:t>
        <a:bodyPr/>
        <a:lstStyle/>
        <a:p>
          <a:endParaRPr lang="es-CL"/>
        </a:p>
      </dgm:t>
    </dgm:pt>
    <dgm:pt modelId="{14F2504E-9931-4950-8B3F-292B30F750A9}" type="sibTrans" cxnId="{B7E92E1F-081E-435E-9A84-45C88F35B25B}">
      <dgm:prSet/>
      <dgm:spPr/>
      <dgm:t>
        <a:bodyPr/>
        <a:lstStyle/>
        <a:p>
          <a:endParaRPr lang="es-CL"/>
        </a:p>
      </dgm:t>
    </dgm:pt>
    <dgm:pt modelId="{F09BF26D-2022-40EF-B754-46AD6A5DA741}">
      <dgm:prSet/>
      <dgm:spPr/>
      <dgm:t>
        <a:bodyPr/>
        <a:lstStyle/>
        <a:p>
          <a:r>
            <a:rPr lang="es-CL" dirty="0"/>
            <a:t>Nombre de estudiante</a:t>
          </a:r>
        </a:p>
      </dgm:t>
    </dgm:pt>
    <dgm:pt modelId="{22E33F83-C1EA-4F57-9248-EBBDD1566FE6}" type="parTrans" cxnId="{9B06EC53-423E-4393-A141-AEC376BB0443}">
      <dgm:prSet/>
      <dgm:spPr/>
      <dgm:t>
        <a:bodyPr/>
        <a:lstStyle/>
        <a:p>
          <a:endParaRPr lang="es-CL"/>
        </a:p>
      </dgm:t>
    </dgm:pt>
    <dgm:pt modelId="{A3A9474B-2427-41B4-91AF-61930E05E90E}" type="sibTrans" cxnId="{9B06EC53-423E-4393-A141-AEC376BB0443}">
      <dgm:prSet/>
      <dgm:spPr/>
      <dgm:t>
        <a:bodyPr/>
        <a:lstStyle/>
        <a:p>
          <a:endParaRPr lang="es-CL"/>
        </a:p>
      </dgm:t>
    </dgm:pt>
    <dgm:pt modelId="{0390E1A4-9F0C-46E1-9789-486D169974EF}">
      <dgm:prSet/>
      <dgm:spPr/>
      <dgm:t>
        <a:bodyPr/>
        <a:lstStyle/>
        <a:p>
          <a:r>
            <a:rPr lang="es-CL" dirty="0"/>
            <a:t>Cargo</a:t>
          </a:r>
        </a:p>
      </dgm:t>
    </dgm:pt>
    <dgm:pt modelId="{6B5C0B58-0A4A-499B-8E3C-CFF01ED1659D}" type="parTrans" cxnId="{61B14E73-C545-4FAF-A9A1-1B5F097E1162}">
      <dgm:prSet/>
      <dgm:spPr/>
      <dgm:t>
        <a:bodyPr/>
        <a:lstStyle/>
        <a:p>
          <a:endParaRPr lang="es-CL"/>
        </a:p>
      </dgm:t>
    </dgm:pt>
    <dgm:pt modelId="{B2B96C2E-A18A-4AAD-B360-3C214C15C245}" type="sibTrans" cxnId="{61B14E73-C545-4FAF-A9A1-1B5F097E1162}">
      <dgm:prSet/>
      <dgm:spPr/>
      <dgm:t>
        <a:bodyPr/>
        <a:lstStyle/>
        <a:p>
          <a:endParaRPr lang="es-CL"/>
        </a:p>
      </dgm:t>
    </dgm:pt>
    <dgm:pt modelId="{761B5960-C5C5-4A81-977F-F8155402171A}">
      <dgm:prSet/>
      <dgm:spPr/>
      <dgm:t>
        <a:bodyPr/>
        <a:lstStyle/>
        <a:p>
          <a:r>
            <a:rPr lang="es-CL" dirty="0"/>
            <a:t>Funciones desempeñadas</a:t>
          </a:r>
        </a:p>
      </dgm:t>
    </dgm:pt>
    <dgm:pt modelId="{22F36988-6788-43E0-A823-AE4DD93A3D87}" type="parTrans" cxnId="{1FCDC96F-E7D0-4592-88D9-5D1CC7D10168}">
      <dgm:prSet/>
      <dgm:spPr/>
      <dgm:t>
        <a:bodyPr/>
        <a:lstStyle/>
        <a:p>
          <a:endParaRPr lang="es-CL"/>
        </a:p>
      </dgm:t>
    </dgm:pt>
    <dgm:pt modelId="{44CDD779-8E39-476B-AA7D-0796F124FDD0}" type="sibTrans" cxnId="{1FCDC96F-E7D0-4592-88D9-5D1CC7D1016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4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4"/>
      <dgm:spPr/>
    </dgm:pt>
    <dgm:pt modelId="{52D125D2-FCA7-4A2D-AB39-B6BD54F251F2}" type="pres">
      <dgm:prSet presAssocID="{78BFB295-8F5D-4286-B72B-79142F8F0E13}" presName="text" presStyleLbl="node1" presStyleIdx="0" presStyleCnt="4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4"/>
      <dgm:spPr/>
    </dgm:pt>
    <dgm:pt modelId="{3F97C059-D720-4D48-953F-B84D04D0BF79}" type="pres">
      <dgm:prSet presAssocID="{02A34BC0-F8BA-4A89-87A4-4F20079DFD06}" presName="img" presStyleLbl="fgImgPlace1" presStyleIdx="1" presStyleCnt="4"/>
      <dgm:spPr/>
    </dgm:pt>
    <dgm:pt modelId="{CFFDF23F-D296-4CDF-8EE4-8A672559E207}" type="pres">
      <dgm:prSet presAssocID="{02A34BC0-F8BA-4A89-87A4-4F20079DFD06}" presName="text" presStyleLbl="node1" presStyleIdx="1" presStyleCnt="4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0A053813-1A27-48A9-9CE4-CF4EBB9943E0}" type="pres">
      <dgm:prSet presAssocID="{F09BF26D-2022-40EF-B754-46AD6A5DA741}" presName="comp" presStyleCnt="0"/>
      <dgm:spPr/>
    </dgm:pt>
    <dgm:pt modelId="{F6EA3109-3DED-4AF4-91BA-940DEFBF6AB6}" type="pres">
      <dgm:prSet presAssocID="{F09BF26D-2022-40EF-B754-46AD6A5DA741}" presName="box" presStyleLbl="node1" presStyleIdx="2" presStyleCnt="4"/>
      <dgm:spPr/>
    </dgm:pt>
    <dgm:pt modelId="{504B6808-2EA0-4B63-AE60-779A9AA54E83}" type="pres">
      <dgm:prSet presAssocID="{F09BF26D-2022-40EF-B754-46AD6A5DA741}" presName="img" presStyleLbl="fgImgPlace1" presStyleIdx="2" presStyleCnt="4"/>
      <dgm:spPr/>
    </dgm:pt>
    <dgm:pt modelId="{4539DCF4-B987-4503-BDC5-6515AA2623F4}" type="pres">
      <dgm:prSet presAssocID="{F09BF26D-2022-40EF-B754-46AD6A5DA741}" presName="text" presStyleLbl="node1" presStyleIdx="2" presStyleCnt="4">
        <dgm:presLayoutVars>
          <dgm:bulletEnabled val="1"/>
        </dgm:presLayoutVars>
      </dgm:prSet>
      <dgm:spPr/>
    </dgm:pt>
    <dgm:pt modelId="{7DA395C4-CD93-4699-8C13-1F2F68E84886}" type="pres">
      <dgm:prSet presAssocID="{A3A9474B-2427-41B4-91AF-61930E05E90E}" presName="spacer" presStyleCnt="0"/>
      <dgm:spPr/>
    </dgm:pt>
    <dgm:pt modelId="{8E436DAB-E6B4-4A85-95F7-AF2FE1138EF2}" type="pres">
      <dgm:prSet presAssocID="{07DBFAD7-FA54-4B52-8BDE-5F33C7C671E8}" presName="comp" presStyleCnt="0"/>
      <dgm:spPr/>
    </dgm:pt>
    <dgm:pt modelId="{1CB2E637-A13C-4019-9D01-151793C833A2}" type="pres">
      <dgm:prSet presAssocID="{07DBFAD7-FA54-4B52-8BDE-5F33C7C671E8}" presName="box" presStyleLbl="node1" presStyleIdx="3" presStyleCnt="4"/>
      <dgm:spPr/>
    </dgm:pt>
    <dgm:pt modelId="{A148715F-8F24-48C6-A652-9C08F3491B56}" type="pres">
      <dgm:prSet presAssocID="{07DBFAD7-FA54-4B52-8BDE-5F33C7C671E8}" presName="img" presStyleLbl="fgImgPlace1" presStyleIdx="3" presStyleCnt="4"/>
      <dgm:spPr/>
    </dgm:pt>
    <dgm:pt modelId="{E8E70019-9E42-467D-93E6-4112D8F0A4C4}" type="pres">
      <dgm:prSet presAssocID="{07DBFAD7-FA54-4B52-8BDE-5F33C7C671E8}" presName="text" presStyleLbl="node1" presStyleIdx="3" presStyleCnt="4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426ED1B-8B35-451F-A81D-F3C8A7D0FA6A}" type="presOf" srcId="{07DBFAD7-FA54-4B52-8BDE-5F33C7C671E8}" destId="{E8E70019-9E42-467D-93E6-4112D8F0A4C4}" srcOrd="1" destOrd="0" presId="urn:microsoft.com/office/officeart/2005/8/layout/vList4"/>
    <dgm:cxn modelId="{B7E92E1F-081E-435E-9A84-45C88F35B25B}" srcId="{07DBFAD7-FA54-4B52-8BDE-5F33C7C671E8}" destId="{149D954F-D66D-4D2A-A389-35B63DA5012B}" srcOrd="1" destOrd="0" parTransId="{F48E3EB8-AEFE-420D-A38E-B3C86EDE3BC2}" sibTransId="{14F2504E-9931-4950-8B3F-292B30F750A9}"/>
    <dgm:cxn modelId="{B1BCEF30-284F-4A3A-BA30-EE1475AE0CAF}" type="presOf" srcId="{07DBFAD7-FA54-4B52-8BDE-5F33C7C671E8}" destId="{1CB2E637-A13C-4019-9D01-151793C833A2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2C828946-04C2-4742-B471-ECA846DB9856}" type="presOf" srcId="{761B5960-C5C5-4A81-977F-F8155402171A}" destId="{F6EA3109-3DED-4AF4-91BA-940DEFBF6AB6}" srcOrd="0" destOrd="2" presId="urn:microsoft.com/office/officeart/2005/8/layout/vList4"/>
    <dgm:cxn modelId="{F7320D6F-4628-4F8D-BCDF-16D6346537F1}" type="presOf" srcId="{5DFEA15F-486F-4B82-953E-16B7851BCC59}" destId="{E8E70019-9E42-467D-93E6-4112D8F0A4C4}" srcOrd="1" destOrd="1" presId="urn:microsoft.com/office/officeart/2005/8/layout/vList4"/>
    <dgm:cxn modelId="{1FCDC96F-E7D0-4592-88D9-5D1CC7D10168}" srcId="{F09BF26D-2022-40EF-B754-46AD6A5DA741}" destId="{761B5960-C5C5-4A81-977F-F8155402171A}" srcOrd="1" destOrd="0" parTransId="{22F36988-6788-43E0-A823-AE4DD93A3D87}" sibTransId="{44CDD779-8E39-476B-AA7D-0796F124FDD0}"/>
    <dgm:cxn modelId="{61B14E73-C545-4FAF-A9A1-1B5F097E1162}" srcId="{F09BF26D-2022-40EF-B754-46AD6A5DA741}" destId="{0390E1A4-9F0C-46E1-9789-486D169974EF}" srcOrd="0" destOrd="0" parTransId="{6B5C0B58-0A4A-499B-8E3C-CFF01ED1659D}" sibTransId="{B2B96C2E-A18A-4AAD-B360-3C214C15C245}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9B06EC53-423E-4393-A141-AEC376BB0443}" srcId="{BE45140C-C326-4DAA-A267-498AD5117D68}" destId="{F09BF26D-2022-40EF-B754-46AD6A5DA741}" srcOrd="2" destOrd="0" parTransId="{22E33F83-C1EA-4F57-9248-EBBDD1566FE6}" sibTransId="{A3A9474B-2427-41B4-91AF-61930E05E90E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AB12485A-279F-45F7-B381-B5B3FD9C2CF7}" srcId="{BE45140C-C326-4DAA-A267-498AD5117D68}" destId="{07DBFAD7-FA54-4B52-8BDE-5F33C7C671E8}" srcOrd="3" destOrd="0" parTransId="{CF48ACED-401C-46E0-A4FD-DD9DB65236C1}" sibTransId="{600A97F9-148F-4C31-8451-09B05C0D4E1A}"/>
    <dgm:cxn modelId="{DFCF6990-53EB-4286-B1CF-835DC72B887E}" srcId="{07DBFAD7-FA54-4B52-8BDE-5F33C7C671E8}" destId="{5DFEA15F-486F-4B82-953E-16B7851BCC59}" srcOrd="0" destOrd="0" parTransId="{37C87EC0-2F73-4A34-905F-DB4A00CB6E6A}" sibTransId="{3277CD81-A0AF-48F8-BBD8-3CE961969DC7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35644DB8-C835-4294-BDCC-65F02563272E}" type="presOf" srcId="{F09BF26D-2022-40EF-B754-46AD6A5DA741}" destId="{4539DCF4-B987-4503-BDC5-6515AA2623F4}" srcOrd="1" destOrd="0" presId="urn:microsoft.com/office/officeart/2005/8/layout/vList4"/>
    <dgm:cxn modelId="{1C4CA7B8-D73C-4887-B6EF-9DD0AA3C9CC0}" type="presOf" srcId="{0390E1A4-9F0C-46E1-9789-486D169974EF}" destId="{F6EA3109-3DED-4AF4-91BA-940DEFBF6AB6}" srcOrd="0" destOrd="1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CA03BFBE-5CFB-4E20-A20E-5C87B094771B}" type="presOf" srcId="{5DFEA15F-486F-4B82-953E-16B7851BCC59}" destId="{1CB2E637-A13C-4019-9D01-151793C833A2}" srcOrd="0" destOrd="1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591224CB-30C3-4CF4-BAED-D7B1C080647D}" type="presOf" srcId="{761B5960-C5C5-4A81-977F-F8155402171A}" destId="{4539DCF4-B987-4503-BDC5-6515AA2623F4}" srcOrd="1" destOrd="2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C33FA9D9-71DD-44B0-A65C-328783046DEC}" type="presOf" srcId="{149D954F-D66D-4D2A-A389-35B63DA5012B}" destId="{1CB2E637-A13C-4019-9D01-151793C833A2}" srcOrd="0" destOrd="2" presId="urn:microsoft.com/office/officeart/2005/8/layout/vList4"/>
    <dgm:cxn modelId="{2593AFE8-92A4-4503-BAE3-83273E976BB2}" type="presOf" srcId="{F09BF26D-2022-40EF-B754-46AD6A5DA741}" destId="{F6EA3109-3DED-4AF4-91BA-940DEFBF6AB6}" srcOrd="0" destOrd="0" presId="urn:microsoft.com/office/officeart/2005/8/layout/vList4"/>
    <dgm:cxn modelId="{A4FA5DF5-D134-43BB-9BB2-C7EFBF9CACDD}" type="presOf" srcId="{149D954F-D66D-4D2A-A389-35B63DA5012B}" destId="{E8E70019-9E42-467D-93E6-4112D8F0A4C4}" srcOrd="1" destOrd="2" presId="urn:microsoft.com/office/officeart/2005/8/layout/vList4"/>
    <dgm:cxn modelId="{E5044FFB-1C40-4D08-BBFF-F474AD143165}" type="presOf" srcId="{0390E1A4-9F0C-46E1-9789-486D169974EF}" destId="{4539DCF4-B987-4503-BDC5-6515AA2623F4}" srcOrd="1" destOrd="1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2F4FFB68-C773-4AC3-91CF-5BB59750C55D}" type="presParOf" srcId="{6E1E561E-88C1-49C6-A3F7-DE4B9AD43273}" destId="{0A053813-1A27-48A9-9CE4-CF4EBB9943E0}" srcOrd="4" destOrd="0" presId="urn:microsoft.com/office/officeart/2005/8/layout/vList4"/>
    <dgm:cxn modelId="{31D19C3B-9B03-4539-B9E2-97165831DA16}" type="presParOf" srcId="{0A053813-1A27-48A9-9CE4-CF4EBB9943E0}" destId="{F6EA3109-3DED-4AF4-91BA-940DEFBF6AB6}" srcOrd="0" destOrd="0" presId="urn:microsoft.com/office/officeart/2005/8/layout/vList4"/>
    <dgm:cxn modelId="{A2732A31-71D9-411D-A938-D94866DD45F4}" type="presParOf" srcId="{0A053813-1A27-48A9-9CE4-CF4EBB9943E0}" destId="{504B6808-2EA0-4B63-AE60-779A9AA54E83}" srcOrd="1" destOrd="0" presId="urn:microsoft.com/office/officeart/2005/8/layout/vList4"/>
    <dgm:cxn modelId="{6469C114-48C6-4ED4-B7EA-90146A2512C3}" type="presParOf" srcId="{0A053813-1A27-48A9-9CE4-CF4EBB9943E0}" destId="{4539DCF4-B987-4503-BDC5-6515AA2623F4}" srcOrd="2" destOrd="0" presId="urn:microsoft.com/office/officeart/2005/8/layout/vList4"/>
    <dgm:cxn modelId="{B93E847F-1864-4471-9CA5-422FAE12CF3D}" type="presParOf" srcId="{6E1E561E-88C1-49C6-A3F7-DE4B9AD43273}" destId="{7DA395C4-CD93-4699-8C13-1F2F68E84886}" srcOrd="5" destOrd="0" presId="urn:microsoft.com/office/officeart/2005/8/layout/vList4"/>
    <dgm:cxn modelId="{CE974F92-15FE-473C-A480-FD7264AA1ED7}" type="presParOf" srcId="{6E1E561E-88C1-49C6-A3F7-DE4B9AD43273}" destId="{8E436DAB-E6B4-4A85-95F7-AF2FE1138EF2}" srcOrd="6" destOrd="0" presId="urn:microsoft.com/office/officeart/2005/8/layout/vList4"/>
    <dgm:cxn modelId="{3D706D8D-055E-4B4F-B107-0DFD14DD807E}" type="presParOf" srcId="{8E436DAB-E6B4-4A85-95F7-AF2FE1138EF2}" destId="{1CB2E637-A13C-4019-9D01-151793C833A2}" srcOrd="0" destOrd="0" presId="urn:microsoft.com/office/officeart/2005/8/layout/vList4"/>
    <dgm:cxn modelId="{E3ABC40E-4770-44E7-96E1-CFB119B2EF88}" type="presParOf" srcId="{8E436DAB-E6B4-4A85-95F7-AF2FE1138EF2}" destId="{A148715F-8F24-48C6-A652-9C08F3491B56}" srcOrd="1" destOrd="0" presId="urn:microsoft.com/office/officeart/2005/8/layout/vList4"/>
    <dgm:cxn modelId="{A561BC4D-CA3A-41DC-A167-629FC92868AD}" type="presParOf" srcId="{8E436DAB-E6B4-4A85-95F7-AF2FE1138EF2}" destId="{E8E70019-9E42-467D-93E6-4112D8F0A4C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0"/>
        <a:ext cx="5318064" cy="1067494"/>
      </dsp:txXfrm>
    </dsp:sp>
    <dsp:sp modelId="{9A7E2690-DE9C-4572-9BE5-B8C9A3B8BBB3}">
      <dsp:nvSpPr>
        <dsp:cNvPr id="0" name=""/>
        <dsp:cNvSpPr/>
      </dsp:nvSpPr>
      <dsp:spPr>
        <a:xfrm>
          <a:off x="106749" y="106749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174243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1174243"/>
        <a:ext cx="5318064" cy="1067494"/>
      </dsp:txXfrm>
    </dsp:sp>
    <dsp:sp modelId="{3F97C059-D720-4D48-953F-B84D04D0BF79}">
      <dsp:nvSpPr>
        <dsp:cNvPr id="0" name=""/>
        <dsp:cNvSpPr/>
      </dsp:nvSpPr>
      <dsp:spPr>
        <a:xfrm>
          <a:off x="106749" y="1280992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6EA3109-3DED-4AF4-91BA-940DEFBF6AB6}">
      <dsp:nvSpPr>
        <dsp:cNvPr id="0" name=""/>
        <dsp:cNvSpPr/>
      </dsp:nvSpPr>
      <dsp:spPr>
        <a:xfrm>
          <a:off x="0" y="2348487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kern="1200" dirty="0"/>
            <a:t>Nombre de estudiante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kern="1200" dirty="0"/>
            <a:t>Cargo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kern="1200" dirty="0"/>
            <a:t>Funciones desempeñadas</a:t>
          </a:r>
        </a:p>
      </dsp:txBody>
      <dsp:txXfrm>
        <a:off x="1462952" y="2348487"/>
        <a:ext cx="5318064" cy="1067494"/>
      </dsp:txXfrm>
    </dsp:sp>
    <dsp:sp modelId="{504B6808-2EA0-4B63-AE60-779A9AA54E83}">
      <dsp:nvSpPr>
        <dsp:cNvPr id="0" name=""/>
        <dsp:cNvSpPr/>
      </dsp:nvSpPr>
      <dsp:spPr>
        <a:xfrm>
          <a:off x="106749" y="2455236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CB2E637-A13C-4019-9D01-151793C833A2}">
      <dsp:nvSpPr>
        <dsp:cNvPr id="0" name=""/>
        <dsp:cNvSpPr/>
      </dsp:nvSpPr>
      <dsp:spPr>
        <a:xfrm>
          <a:off x="0" y="352273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3522730"/>
        <a:ext cx="5318064" cy="1067494"/>
      </dsp:txXfrm>
    </dsp:sp>
    <dsp:sp modelId="{A148715F-8F24-48C6-A652-9C08F3491B56}">
      <dsp:nvSpPr>
        <dsp:cNvPr id="0" name=""/>
        <dsp:cNvSpPr/>
      </dsp:nvSpPr>
      <dsp:spPr>
        <a:xfrm>
          <a:off x="106749" y="3629480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632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8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789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738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27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701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55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01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732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699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8796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40A3-26B0-41B9-8D0E-A6E2BE76A0F6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20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</p:spPr>
        <p:txBody>
          <a:bodyPr>
            <a:normAutofit fontScale="90000"/>
          </a:bodyPr>
          <a:lstStyle/>
          <a:p>
            <a:r>
              <a:rPr lang="es-CL" dirty="0"/>
              <a:t>MercadoNacional (MERNAC)</a:t>
            </a:r>
            <a:br>
              <a:rPr lang="es-CL" dirty="0"/>
            </a:br>
            <a:r>
              <a:rPr lang="es-CL" sz="3200" dirty="0"/>
              <a:t>“Marketplace B2B de licitaciones privadas”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</p:spPr>
        <p:txBody>
          <a:bodyPr>
            <a:noAutofit/>
          </a:bodyPr>
          <a:lstStyle/>
          <a:p>
            <a:r>
              <a:rPr lang="es-CL" sz="3200" dirty="0"/>
              <a:t>Ingeniería Informática</a:t>
            </a:r>
          </a:p>
          <a:p>
            <a:r>
              <a:rPr lang="es-CL" sz="1400" dirty="0"/>
              <a:t>Escuela de Informática y Telecomunicaciones</a:t>
            </a:r>
          </a:p>
          <a:p>
            <a:r>
              <a:rPr lang="es-CL" sz="1400" dirty="0"/>
              <a:t>Sede Puente Alto</a:t>
            </a:r>
          </a:p>
          <a:p>
            <a:r>
              <a:rPr lang="es-CL" sz="1400" dirty="0"/>
              <a:t>2026</a:t>
            </a:r>
          </a:p>
          <a:p>
            <a:endParaRPr lang="es-CL" sz="1400" dirty="0"/>
          </a:p>
          <a:p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21514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5D7939A-BC7B-E516-681B-96044152210D}"/>
              </a:ext>
            </a:extLst>
          </p:cNvPr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82926" y="1382434"/>
          <a:ext cx="6781017" cy="4592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1800000"/>
                <a:gridCol w="2581017"/>
              </a:tblGrid>
              <a:tr h="1530972">
                <a:tc>
                  <a:txBody>
                    <a:bodyPr/>
                    <a:lstStyle/>
                    <a:p>
                      <a:r>
                        <a:rPr sz="1400" b="1"/>
                        <a:t>Integrante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Rol en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Responsabilidades principales</a:t>
                      </a:r>
                    </a:p>
                  </a:txBody>
                  <a:tcPr/>
                </a:tc>
              </a:tr>
              <a:tr h="1530972">
                <a:tc>
                  <a:txBody>
                    <a:bodyPr/>
                    <a:lstStyle/>
                    <a:p>
                      <a:r>
                        <a:rPr sz="1200"/>
                        <a:t>Pablo Renato Carrera Cabello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Jefe de Proyecto</a:t>
                      </a:r>
                    </a:p>
                    <a:p>
                      <a:r>
                        <a:rPr sz="1200"/>
                        <a:t>Analista Programador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Planificación, gestión del proyecto y desarrollo de la lógica de negocio (capa Service) y la API (Spring Boot).</a:t>
                      </a:r>
                    </a:p>
                  </a:txBody>
                  <a:tcPr/>
                </a:tc>
              </a:tr>
              <a:tr h="1530972">
                <a:tc>
                  <a:txBody>
                    <a:bodyPr/>
                    <a:lstStyle/>
                    <a:p>
                      <a:r>
                        <a:rPr sz="1200"/>
                        <a:t>Ignacio Antonio Carrera Cabello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DBA · QA · Diseñador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Modelo de datos y persistencia (Oracle), pruebas (JUnit, Mockito, Karma) y diseño de interfaz (Angular).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59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</p:spPr>
        <p:txBody>
          <a:bodyPr/>
          <a:lstStyle/>
          <a:p>
            <a:r>
              <a:rPr lang="es-CL" dirty="0"/>
              <a:t>Descripción del Proyecto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CAAA338-F429-9042-FFA7-A873477A3F80}"/>
              </a:ext>
            </a:extLst>
          </p:cNvPr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Problemática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El mercado privado chileno no tiene una alternativa a Mercado Público: quien publica una licitación llega solo a los proveedores que ya conoce, los requisitos se declaran en texto libre y se revisan a mano, no hay trazabilidad estructurada del proceso y el comportamiento pasado de una empresa no viaja con ella al siguiente proceso.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6F7A35-626F-23CE-7A47-1D8E5CBBB80B}"/>
              </a:ext>
            </a:extLst>
          </p:cNvPr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Un marketplace B2B donde las empresas publican licitaciones privadas, postulan acreditando requisito por requisito que cumplen —bloqueando el envío si falta uno obligatorio— y construyen reputación pública con cada proceso adjudicado mediante evaluación mutua entre publicador y adjudicatario.</a:t>
            </a:r>
            <a:endParaRPr lang="es-CL" sz="1800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FB58451-B5D0-BDE6-FFE9-4D940E71256C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09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F1CFDA6-4B15-1117-A158-08C7A7DC2C2C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Desarrollar una plataforma web marketplace B2B (MercadoNacional / MERNAC) que permita a empresas con giro comercial publicar y postular a licitaciones privadas, validando el cumplimiento de requisitos y construyendo reputación con cada proceso adjudicado.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8ECD55C-14AF-66FA-ED98-BC5A00C9EF6C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z="1200"/>
              <a:t>1. Registro y autenticación con validación de RUT y giro contra el SII (RF-01, RF-02).</a:t>
            </a:r>
            <a:endParaRPr lang="es-CL" dirty="0"/>
          </a:p>
          <a:p>
            <a:pPr algn="ctr"/>
            <a:r>
              <a:rPr lang="es-MX" dirty="0" sz="1200"/>
              <a:t>2. Publicación de licitaciones con requisitos obligatorios/deseables y documentos de bases (RF-08 a RF-10).</a:t>
            </a:r>
            <a:endParaRPr lang="es-CL" dirty="0"/>
          </a:p>
          <a:p>
            <a:pPr algn="ctr"/>
            <a:r>
              <a:rPr lang="es-MX" dirty="0" sz="1200"/>
              <a:t>3. Postulación con declaración de cumplimiento bloqueante ante requisitos obligatorios (RF-16, RF-17, RN-09).</a:t>
            </a:r>
            <a:endParaRPr lang="es-CL" dirty="0"/>
          </a:p>
          <a:p>
            <a:pPr algn="ctr"/>
            <a:r>
              <a:rPr lang="es-MX" dirty="0" sz="1200"/>
              <a:t>4. Matriz comparativa y adjudicación con motivo (RF-21, RF-22).</a:t>
            </a:r>
            <a:endParaRPr lang="es-CL" dirty="0"/>
          </a:p>
          <a:p>
            <a:pPr algn="ctr"/>
            <a:r>
              <a:rPr lang="es-MX" dirty="0" sz="1200"/>
              <a:t>5. Evaluación mutua, cálculo de reputación y niveles de prestigio (RF-32 a RF-34).</a:t>
            </a:r>
            <a:endParaRPr lang="es-CL" dirty="0"/>
          </a:p>
          <a:p>
            <a:pPr algn="ctr"/>
            <a:r>
              <a:rPr lang="es-MX" dirty="0" sz="1200"/>
              <a:t>6. Paneles de trazabilidad, bitácora y reportes exportables a PDF/XLS (RF-24 a RF-28).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79C96-AB81-4E82-DFF5-8BABB8C6C3B1}"/>
              </a:ext>
            </a:extLst>
          </p:cNvPr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A578C5-359E-EE93-4566-7B93CDA5020B}"/>
              </a:ext>
            </a:extLst>
          </p:cNvPr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292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</p:spPr>
        <p:txBody>
          <a:bodyPr/>
          <a:lstStyle/>
          <a:p>
            <a:r>
              <a:rPr lang="es-CL" dirty="0"/>
              <a:t>Alcances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14374" y="1664801"/>
            <a:ext cx="100729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 hace el Sistema:</a:t>
            </a:r>
          </a:p>
          <a:p>
            <a:r>
              <a:rPr sz="1300"/>
              <a:t>Registro con validación de RUT y giro; autenticación, sesiones, perfiles y roles.</a:t>
            </a:r>
            <a:endParaRPr lang="es-CL" dirty="0"/>
          </a:p>
          <a:p>
            <a:r>
              <a:rPr sz="1300"/>
              <a:t>Publicación de licitaciones con requisitos y documentos; postulación con declaración de cumplimiento bloqueante.</a:t>
            </a:r>
            <a:endParaRPr lang="es-CL" dirty="0"/>
          </a:p>
          <a:p>
            <a:r>
              <a:rPr sz="1300"/>
              <a:t>Comparación, adjudicación y evaluación mutua con reputación y niveles de prestigio.</a:t>
            </a:r>
            <a:endParaRPr lang="es-CL" dirty="0"/>
          </a:p>
          <a:p>
            <a:r>
              <a:rPr sz="1300"/>
              <a:t>Panel de trazabilidad y bitácora; dos reportes con filtros exportables a PDF/XLS.</a:t>
            </a:r>
            <a:endParaRPr lang="es-CL" dirty="0"/>
          </a:p>
          <a:p>
            <a:r>
              <a:rPr sz="1300"/>
              <a:t>Notificaciones por correo en 8 eventos de acción; aplicación secundaria de 15 mantenedores.</a:t>
            </a:r>
            <a:endParaRPr lang="es-CL" dirty="0"/>
          </a:p>
          <a:p>
            <a:endParaRPr lang="es-CL" dirty="0"/>
          </a:p>
          <a:p>
            <a:r>
              <a:rPr lang="es-CL" dirty="0"/>
              <a:t>Qué no hace:</a:t>
            </a:r>
          </a:p>
          <a:p>
            <a:r>
              <a:rPr sz="1300"/>
              <a:t>No procesa pagos: el pago se acuerda fuera de la plataforma (sin pasarela ni comisiones).</a:t>
            </a:r>
            <a:endParaRPr lang="es-CL" dirty="0"/>
          </a:p>
          <a:p>
            <a:r>
              <a:rPr sz="1300"/>
              <a:t>No publica servicios sueltos ni atiende B2C: solo proyectos licitables entre empresas con giro comercial.</a:t>
            </a:r>
            <a:endParaRPr lang="es-CL" dirty="0"/>
          </a:p>
          <a:p>
            <a:r>
              <a:rPr sz="1300"/>
              <a:t>No ejecuta procesos programados: no hay cron ni tareas en segundo plano (RNF-06).</a:t>
            </a:r>
            <a:endParaRPr lang="es-CL" dirty="0"/>
          </a:p>
          <a:p>
            <a:r>
              <a:rPr sz="1300"/>
              <a:t>La reputación no decide ni suspende cuentas automáticamente por umbral (RN-19, RN-21).</a:t>
            </a:r>
            <a:endParaRPr lang="es-CL" dirty="0"/>
          </a:p>
          <a:p>
            <a:r>
              <a:rPr sz="1300"/>
              <a:t>No audita la veracidad de lo declarado, no firma contratos digitalmente y no tiene app móvil nativa.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0804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Usuarios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4629-6040-F658-DDEF-7F56A5261CFD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z="1400"/>
              <a:t>Empresa: persona natural con giro comercial vigente o persona jurídica (empresa constituida), validada contra el SII. Rol dual — publica y postula indistintamente, adjudica las propias y evalúa a la contraparte.</a:t>
            </a:r>
            <a:endParaRPr lang="es-CL" dirty="0"/>
          </a:p>
          <a:p>
            <a:pPr algn="ctr"/>
            <a:r>
              <a:rPr lang="es-MX" dirty="0" sz="1400"/>
              <a:t>Administrador: opera la plataforma sin participar del negocio — mantenedores, activar/suspender empresas, moderar evaluaciones denunciadas, bitácora y log de errores.</a:t>
            </a:r>
            <a:endParaRPr lang="es-CL" dirty="0"/>
          </a:p>
          <a:p>
            <a:pPr algn="ctr"/>
            <a:r>
              <a:rPr lang="es-MX" dirty="0" sz="1400"/>
              <a:t>Visitante: no autenticado. Ve licitaciones abiertas y reputaciones; no publica ni postula.</a:t>
            </a:r>
            <a:endParaRPr lang="es-CL" dirty="0"/>
          </a:p>
          <a:p>
            <a:pPr algn="ctr"/>
            <a:r>
              <a:rPr lang="es-MX" dirty="0" sz="1400"/>
              <a:t>Servicio SII (actor externo): fuente de verdad para validar RUT y giro comercial durante el registro.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09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81D5-E25F-22F7-E67C-19AB3A8EE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8FA53D1-9FB3-E887-DC95-29BBC6FB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Lista de Requerimientos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F6E5D5F-F80F-AA95-B722-76AD581ED952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z="1400"/>
              <a:t>42 requerimientos funcionales (RF-01 a RF-42) en 9 módulos: Cuentas, Licitaciones, Postulaciones, Adjudicación, Trazabilidad, Reportes, Notificaciones, Administración y Reputación.</a:t>
            </a:r>
            <a:endParaRPr lang="es-CL" dirty="0"/>
          </a:p>
          <a:p>
            <a:pPr algn="ctr"/>
            <a:r>
              <a:rPr lang="es-MX" dirty="0" sz="1400"/>
              <a:t>23 requerimientos no funcionales (RNF-01 a RNF-23): arquitectura en capas, seguridad (BCrypt, JWT, HTTPS), rendimiento (&lt; 3 s), usabilidad, observabilidad y pruebas.</a:t>
            </a:r>
            <a:endParaRPr lang="es-CL" dirty="0"/>
          </a:p>
          <a:p>
            <a:pPr algn="ctr"/>
            <a:r>
              <a:rPr lang="es-MX" dirty="0" sz="1400"/>
              <a:t>24 casos de uso iniciales (CU-01 a CU-24), incluyendo 15 mantenedores de la aplicación secundaria.</a:t>
            </a:r>
            <a:endParaRPr lang="es-CL" dirty="0"/>
          </a:p>
          <a:p>
            <a:pPr algn="ctr"/>
            <a:r>
              <a:rPr lang="es-MX" dirty="0" sz="1400"/>
              <a:t>Detalle completo en la Planilla de Requerimientos y en el §9 del CLAUDE.md.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833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Mockups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/>
              <a:t>Mockups completos: prototipo HTML semifuncional con navegación real y datos de ejemplo (sin backend ni persistencia).</a:t>
            </a:r>
            <a:endParaRPr lang="es-CL" dirty="0"/>
          </a:p>
          <a:p>
            <a:r>
              <a:rPr sz="1600"/>
              <a:t>Pantallas de negocio: listado público con filtros, registro con validación SII, publicación de licitación con requisitos y documentos, postulación con declaración de cumplimiento bloqueante, matriz comparativa y adjudicación, panel de trazabilidad, evaluación mutua y perfil de reputación.</a:t>
            </a:r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537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45758-17A3-CA78-82D5-15B3DAA8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68E136C-5019-90F9-8E34-D8D948AE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Mockups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2922EE-3E04-8B6D-B7A9-B756AFA333C1}"/>
              </a:ext>
            </a:extLst>
          </p:cNvPr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/>
              <a:t>Mockups completos: prototipo HTML semifuncional con navegación real y datos de ejemplo (sin backend ni persistencia).</a:t>
            </a:r>
            <a:endParaRPr lang="es-CL" dirty="0"/>
          </a:p>
          <a:p>
            <a:r>
              <a:rPr sz="1600"/>
              <a:t>Pantallas de administración: los 15 mantenedores (usuarios, empresas, rubros, roles, regiones, tipos de requisito, plantillas, estados, monedas, notificaciones, parámetros, criterios, niveles), moderación de evaluaciones denunciadas, bitácora de auditoría y log de errores.</a:t>
            </a:r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399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Hitos Importantes </a:t>
            </a:r>
          </a:p>
        </p:txBody>
      </p:sp>
      <p:graphicFrame>
        <p:nvGraphicFramePr>
          <p:cNvPr id="6" name="Google Shape;546;p23">
            <a:extLst>
              <a:ext uri="{FF2B5EF4-FFF2-40B4-BE49-F238E27FC236}">
                <a16:creationId xmlns:a16="http://schemas.microsoft.com/office/drawing/2014/main" id="{D286135F-8E02-DD11-B3AB-F14E68EF6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653273"/>
              </p:ext>
            </p:extLst>
          </p:nvPr>
        </p:nvGraphicFramePr>
        <p:xfrm>
          <a:off x="1708434" y="2356863"/>
          <a:ext cx="7525230" cy="2214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7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u="none" strike="noStrike" cap="none" dirty="0">
                          <a:solidFill>
                            <a:schemeClr val="tx1"/>
                          </a:solidFill>
                        </a:rPr>
                        <a:t>Nombre Fase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u="none" strike="noStrike" cap="none" dirty="0">
                          <a:solidFill>
                            <a:schemeClr val="tx1"/>
                          </a:solidFill>
                        </a:rPr>
                        <a:t>Fechas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300"/>
                        <a:t>Aprobación del Acta de Constitución y cierre de la Fase de Planificación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Semana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50">
                <a:tc>
                  <a:txBody>
                    <a:bodyPr/>
                    <a:lstStyle/>
                    <a:p>
                      <a:r>
                        <a:rPr sz="1300"/>
                        <a:t>Cierre de Análisis y Diseño (ERS, arquitectura, casos de uso, prototipos)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Semana 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300"/>
                        <a:t>Cierre de la Fase de Desarrollo (todos los módulos funcionales)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Semana 13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300"/>
                        <a:t>Cierre de Pruebas y QA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Semana 16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300"/>
                        <a:t>Implementación, capacitación y cierre del proyecto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Semana 18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53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</p:spPr>
        <p:txBody>
          <a:bodyPr>
            <a:normAutofit fontScale="90000"/>
          </a:bodyPr>
          <a:lstStyle/>
          <a:p>
            <a:r>
              <a:rPr lang="es-CL" dirty="0"/>
              <a:t>Costos por Fase 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8C64C19-042E-DBCD-DC9B-ADEAFF031E68}"/>
              </a:ext>
            </a:extLst>
          </p:cNvPr>
          <p:cNvSpPr/>
          <p:nvPr/>
        </p:nvSpPr>
        <p:spPr>
          <a:xfrm>
            <a:off x="782337" y="1681843"/>
            <a:ext cx="10247613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/>
              <a:t>Planificación: $922.000 CLP (72 HH)</a:t>
            </a:r>
            <a:endParaRPr lang="es-CL" dirty="0"/>
          </a:p>
          <a:p>
            <a:pPr algn="ctr"/>
            <a:r>
              <a:rPr sz="1500"/>
              <a:t>Análisis y Diseño: $1.326.800 CLP (108 HH)</a:t>
            </a:r>
            <a:endParaRPr lang="es-CL" dirty="0"/>
          </a:p>
          <a:p>
            <a:pPr algn="ctr"/>
            <a:r>
              <a:rPr sz="1500"/>
              <a:t>Desarrollo: $4.414.000 CLP (360 HH)</a:t>
            </a:r>
            <a:endParaRPr lang="es-CL" dirty="0"/>
          </a:p>
          <a:p>
            <a:pPr algn="ctr"/>
            <a:r>
              <a:rPr sz="1500"/>
              <a:t>Pruebas y QA: $1.236.200 CLP (108 HH)</a:t>
            </a:r>
            <a:endParaRPr lang="es-CL" dirty="0"/>
          </a:p>
          <a:p>
            <a:pPr algn="ctr"/>
            <a:r>
              <a:rPr sz="1500"/>
              <a:t>Implementación y Cierre: $907.100 CLP (72 HH)</a:t>
            </a:r>
            <a:endParaRPr lang="es-CL" dirty="0"/>
          </a:p>
          <a:p>
            <a:pPr algn="ctr"/>
            <a:r>
              <a:rPr sz="1500"/>
              <a:t>Total horas-hombre: $8.806.100 CLP (720 HH)</a:t>
            </a:r>
            <a:endParaRPr lang="es-CL" dirty="0"/>
          </a:p>
          <a:p>
            <a:pPr algn="ctr"/>
            <a:r>
              <a:rPr sz="1500"/>
              <a:t>Precio final de referencia (margen 60%): $14.089.760 CLP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0451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Tecnologías del Desarrollo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41252" y="1828016"/>
            <a:ext cx="10861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Stack tecnológico definido en la arquitectura del proyecto (§13):</a:t>
            </a:r>
          </a:p>
          <a:p>
            <a:r>
              <a:rPr sz="1400"/>
              <a:t>Frontend: Angular (dos aplicaciones: /app negocio y /admin mantenedores)</a:t>
            </a:r>
            <a:endParaRPr lang="es-CL" dirty="0"/>
          </a:p>
          <a:p>
            <a:r>
              <a:rPr sz="1400"/>
              <a:t>Backend: Java 21 con Spring Boot (Spring Web, Spring Data JPA, Spring Security)</a:t>
            </a:r>
            <a:endParaRPr lang="es-CL" dirty="0"/>
          </a:p>
          <a:p>
            <a:r>
              <a:rPr sz="1400"/>
              <a:t>Base de datos: Oracle Database</a:t>
            </a:r>
            <a:endParaRPr lang="es-CL" dirty="0"/>
          </a:p>
          <a:p>
            <a:r>
              <a:rPr sz="1400"/>
              <a:t>Seguridad: JWT firmado y BCrypt para hash de contraseñas; HTTPS</a:t>
            </a:r>
            <a:endParaRPr lang="es-CL" dirty="0"/>
          </a:p>
          <a:p>
            <a:r>
              <a:rPr sz="1400"/>
              <a:t>Observabilidad: SLF4J, Logback, @ControllerAdvice</a:t>
            </a:r>
            <a:endParaRPr lang="es-CL" dirty="0"/>
          </a:p>
          <a:p>
            <a:r>
              <a:rPr sz="1400"/>
              <a:t>Pruebas: JUnit 5, Mockito, Spring Boot Test, Karma/Jasmine</a:t>
            </a:r>
            <a:endParaRPr lang="es-CL" dirty="0"/>
          </a:p>
          <a:p>
            <a:r>
              <a:rPr sz="1400"/>
              <a:t>Infraestructura: Docker y Docker Compose (contenedor por componente)</a:t>
            </a:r>
            <a:endParaRPr lang="es-CL" dirty="0"/>
          </a:p>
          <a:p>
            <a:r>
              <a:rPr sz="1400"/>
              <a:t>Control de versiones: Git (repositorio compartido por el equipo)</a:t>
            </a:r>
          </a:p>
        </p:txBody>
      </p:sp>
    </p:spTree>
    <p:extLst>
      <p:ext uri="{BB962C8B-B14F-4D97-AF65-F5344CB8AC3E}">
        <p14:creationId xmlns:p14="http://schemas.microsoft.com/office/powerpoint/2010/main" val="348434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/>
          <p:cNvSpPr txBox="1">
            <a:spLocks/>
          </p:cNvSpPr>
          <p:nvPr/>
        </p:nvSpPr>
        <p:spPr>
          <a:xfrm>
            <a:off x="609558" y="699121"/>
            <a:ext cx="10515600" cy="1053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Conclusión  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996CBE9-7AF7-AD71-3333-A4F05AF40672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MercadoNacional (MERNAC) propone una alternativa privada y nacional a Mercado Público, donde el compliance estructurado en la postulación y la reputación persistente por proceso adjudicado son las dos piezas que dan confianza al mercado B2B chileno. El equipo cuenta con la planificación (Acta, EDT y Costos), los requerimientos y el diseño necesarios para iniciar el desarrollo de los 9 módulos de negocio y los 15 mantenedores definidos.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71933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110</Words>
  <Application>Microsoft Office PowerPoint</Application>
  <PresentationFormat>Panorámica</PresentationFormat>
  <Paragraphs>69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Portafolio Titulo “Nombre del proyecto”</vt:lpstr>
      <vt:lpstr>Presentación de PowerPoint</vt:lpstr>
      <vt:lpstr>Descripción del Proyecto</vt:lpstr>
      <vt:lpstr>Presentación de PowerPoint</vt:lpstr>
      <vt:lpstr>Alcances</vt:lpstr>
      <vt:lpstr>Usuarios</vt:lpstr>
      <vt:lpstr>Lista de Requerimientos</vt:lpstr>
      <vt:lpstr>Mockups del Sistema</vt:lpstr>
      <vt:lpstr>Mockups del Sistema</vt:lpstr>
      <vt:lpstr>Hitos Importantes </vt:lpstr>
      <vt:lpstr>Costos por Fase </vt:lpstr>
      <vt:lpstr>Tecnologías del Desarrollo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Título “Título del Caso”</dc:title>
  <dc:creator>Sala_</dc:creator>
  <cp:lastModifiedBy>Jeanette Leonelli</cp:lastModifiedBy>
  <cp:revision>88</cp:revision>
  <dcterms:created xsi:type="dcterms:W3CDTF">2015-07-01T15:45:01Z</dcterms:created>
  <dcterms:modified xsi:type="dcterms:W3CDTF">2026-08-09T17:21:04Z</dcterms:modified>
</cp:coreProperties>
</file>